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accidents</c:v>
                </c:pt>
              </c:strCache>
            </c:strRef>
          </c:tx>
          <c:spPr>
            <a:solidFill>
              <a:srgbClr val="8A5A06"/>
            </a:solidFill>
            <a:ln w="38100" cap="flat">
              <a:solidFill>
                <a:srgbClr val="8A5A06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A06"/>
              </a:solidFill>
              <a:ln w="9525" cap="flat">
                <a:solidFill>
                  <a:srgbClr val="8A5A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18.9</c:v>
                </c:pt>
                <c:pt idx="1">
                  <c:v>18.1</c:v>
                </c:pt>
                <c:pt idx="2">
                  <c:v>14.6</c:v>
                </c:pt>
                <c:pt idx="3">
                  <c:v>5.4</c:v>
                </c:pt>
                <c:pt idx="4">
                  <c:v>8.1</c:v>
                </c:pt>
                <c:pt idx="5">
                  <c:v>10.1</c:v>
                </c:pt>
                <c:pt idx="6">
                  <c:v>12.2</c:v>
                </c:pt>
                <c:pt idx="7">
                  <c:v>12.6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8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8A"/>
                    </a:solidFill>
                    <a:latin typeface="Arial"/>
                  </a:rPr>
                  <a:t>% of total accidents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Rush hour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Crashes per hour
(density)</c:v>
                  </c:pt>
                  <c:pt idx="1">
                    <c:v>Injury rate (%)</c:v>
                  </c:pt>
                  <c:pt idx="2">
                    <c:v>Fatal rate (%)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3334.6</c:v>
                </c:pt>
                <c:pt idx="1">
                  <c:v>26.99</c:v>
                </c:pt>
                <c:pt idx="2">
                  <c:v>0.096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Non-rush hour</c:v>
                </c:pt>
              </c:strCache>
            </c:strRef>
          </c:tx>
          <c:spPr>
            <a:solidFill>
              <a:srgbClr val="5C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Crashes per hour
(density)</c:v>
                  </c:pt>
                  <c:pt idx="1">
                    <c:v>Injury rate (%)</c:v>
                  </c:pt>
                  <c:pt idx="2">
                    <c:v>Fatal rate (%)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3117</c:v>
                </c:pt>
                <c:pt idx="1">
                  <c:v>27.43</c:v>
                </c:pt>
                <c:pt idx="2">
                  <c:v>0.214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1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Crashes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CA31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Belt Pkwy</c:v>
                  </c:pt>
                  <c:pt idx="1">
                    <c:v>LI Expwy</c:v>
                  </c:pt>
                  <c:pt idx="2">
                    <c:v>BQE</c:v>
                  </c:pt>
                  <c:pt idx="3">
                    <c:v>FDR Drive</c:v>
                  </c:pt>
                  <c:pt idx="4">
                    <c:v>Major Deegan</c:v>
                  </c:pt>
                  <c:pt idx="5">
                    <c:v>Broadway</c:v>
                  </c:pt>
                  <c:pt idx="6">
                    <c:v>Grand Central Pkwy</c:v>
                  </c:pt>
                  <c:pt idx="7">
                    <c:v>Atlantic Ave</c:v>
                  </c:pt>
                  <c:pt idx="8">
                    <c:v>Cross Bronx Expwy</c:v>
                  </c:pt>
                  <c:pt idx="9">
                    <c:v>Cross Island Pkwy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1254</c:v>
                </c:pt>
                <c:pt idx="1">
                  <c:v>754</c:v>
                </c:pt>
                <c:pt idx="2">
                  <c:v>743</c:v>
                </c:pt>
                <c:pt idx="3">
                  <c:v>735</c:v>
                </c:pt>
                <c:pt idx="4">
                  <c:v>599</c:v>
                </c:pt>
                <c:pt idx="5">
                  <c:v>595</c:v>
                </c:pt>
                <c:pt idx="6">
                  <c:v>590</c:v>
                </c:pt>
                <c:pt idx="7">
                  <c:v>543</c:v>
                </c:pt>
                <c:pt idx="8">
                  <c:v>534</c:v>
                </c:pt>
                <c:pt idx="9">
                  <c:v>519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Rush hour</c:v>
                </c:pt>
              </c:strCache>
            </c:strRef>
          </c:tx>
          <c:spPr>
            <a:solidFill>
              <a:srgbClr val="FCA3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Following too
closely</c:v>
                  </c:pt>
                  <c:pt idx="1">
                    <c:v>Failure to yield
right-of-way</c:v>
                  </c:pt>
                  <c:pt idx="2">
                    <c:v>Passing / lane
usage improper</c:v>
                  </c:pt>
                  <c:pt idx="3">
                    <c:v>Driver inattention
/ distraction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7.4</c:v>
                </c:pt>
                <c:pt idx="2">
                  <c:v>3.9</c:v>
                </c:pt>
                <c:pt idx="3">
                  <c:v>25.9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Non-rush hour</c:v>
                </c:pt>
              </c:strCache>
            </c:strRef>
          </c:tx>
          <c:spPr>
            <a:solidFill>
              <a:srgbClr val="5C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Following too
closely</c:v>
                  </c:pt>
                  <c:pt idx="1">
                    <c:v>Failure to yield
right-of-way</c:v>
                  </c:pt>
                  <c:pt idx="2">
                    <c:v>Passing / lane
usage improper</c:v>
                  </c:pt>
                  <c:pt idx="3">
                    <c:v>Driver inattention
/ distraction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6.6</c:v>
                </c:pt>
                <c:pt idx="1">
                  <c:v>6.1</c:v>
                </c:pt>
                <c:pt idx="2">
                  <c:v>3.8</c:v>
                </c:pt>
                <c:pt idx="3">
                  <c:v>25.5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8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8A"/>
                    </a:solidFill>
                    <a:latin typeface="Arial"/>
                  </a:rPr>
                  <a:t>Share of crashes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1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fatal crashes (%)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EB8C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Unsafe
Speed</c:v>
                  </c:pt>
                  <c:pt idx="1">
                    <c:v>Traffic Control
Disregarded</c:v>
                  </c:pt>
                  <c:pt idx="2">
                    <c:v>Driver Inattention
/ Distraction</c:v>
                  </c:pt>
                  <c:pt idx="3">
                    <c:v>Failure to Yield
Right-of-Way</c:v>
                  </c:pt>
                  <c:pt idx="4">
                    <c:v>Pedestrian /
Cyclist Error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23.8</c:v>
                </c:pt>
                <c:pt idx="1">
                  <c:v>11.9</c:v>
                </c:pt>
                <c:pt idx="2">
                  <c:v>10.5</c:v>
                </c:pt>
                <c:pt idx="3">
                  <c:v>7.7</c:v>
                </c:pt>
                <c:pt idx="4">
                  <c:v>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1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8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8A"/>
                    </a:solidFill>
                    <a:latin typeface="Arial"/>
                  </a:rPr>
                  <a:t>Share of 143 fatal crashes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JAN–AUG 2020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3774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Traffic Accident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rush hour myth against 75,896 reported collisions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19456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 ·  Melwin  ·  Kavya  ·  Shravan  ·  Mariyamol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NYC Open Data — Motor Vehicle Collisions (Crashes)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what everyone assumes about rush hour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24028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belief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834640"/>
            <a:ext cx="30083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assume mornings and evenings are the most dangerous times to drive, simply because the roads are full of cars.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224028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834640"/>
            <a:ext cx="30083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NYPD collision data to check whether that is actually true — or whether worse crashes happen at other hours, when roads are empty and drivers speed.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4F7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224028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02752" y="2834640"/>
            <a:ext cx="30083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police cars and ambulances depends on knowing when crashes concentrate, and by what measure — count or severity — an hour is genuinely “dangerous.”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 &amp; progress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64992" cy="3794760"/>
          </a:xfrm>
          <a:prstGeom prst="roundRect">
            <a:avLst>
              <a:gd name="adj" fmla="val 3261"/>
            </a:avLst>
          </a:prstGeom>
          <a:solidFill>
            <a:srgbClr val="F3F4F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3055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6192" y="21488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36192" y="244144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834640"/>
            <a:ext cx="28529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 and set up the time filters.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8808" y="1874520"/>
            <a:ext cx="3364992" cy="3794760"/>
          </a:xfrm>
          <a:prstGeom prst="roundRect">
            <a:avLst>
              <a:gd name="adj" fmla="val 3261"/>
            </a:avLst>
          </a:prstGeom>
          <a:solidFill>
            <a:srgbClr val="F3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13055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21488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Melwin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244144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834640"/>
            <a:ext cx="28529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month timeline and location charts.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7536" y="1874520"/>
            <a:ext cx="3364992" cy="3794760"/>
          </a:xfrm>
          <a:prstGeom prst="roundRect">
            <a:avLst>
              <a:gd name="adj" fmla="val 3261"/>
            </a:avLst>
          </a:prstGeom>
          <a:solidFill>
            <a:srgbClr val="F3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973568" y="213055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7973568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13648" y="21488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13648" y="244144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Architect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73568" y="2834640"/>
            <a:ext cx="285292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final layout and heatmap templates.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3364992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610819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6108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36192" y="61264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36192" y="641908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Investigator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6812280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Prepped the final slides and cause analysis.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78808" y="5852160"/>
            <a:ext cx="3364992" cy="1691640"/>
          </a:xfrm>
          <a:prstGeom prst="roundRect">
            <a:avLst>
              <a:gd name="adj" fmla="val 6486"/>
            </a:avLst>
          </a:prstGeom>
          <a:solidFill>
            <a:srgbClr val="F3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434840" y="6108192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6108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74920" y="61264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Mariyamol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641908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34840" y="6812280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the team to support trend analysis and cause investigation alongside Melwin and Shravan.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questions this project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guiding business questions assigned for the NYC Traffic Accidents dataset. Every finding in this deck is built to answer one of them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2331720"/>
            <a:ext cx="9829800" cy="777240"/>
          </a:xfrm>
          <a:prstGeom prst="roundRect">
            <a:avLst>
              <a:gd name="adj" fmla="val 11765"/>
            </a:avLst>
          </a:prstGeom>
          <a:solidFill>
            <a:srgbClr val="F3F4F7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23317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% of total accidents by month. Do you notice any seasonal patterns?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91640" y="3246120"/>
            <a:ext cx="9829800" cy="777240"/>
          </a:xfrm>
          <a:prstGeom prst="roundRect">
            <a:avLst>
              <a:gd name="adj" fmla="val 11765"/>
            </a:avLst>
          </a:prstGeom>
          <a:solidFill>
            <a:srgbClr val="F3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32461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accident frequency by day of week and hour of day. When do accidents occur most frequently?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91640" y="4160520"/>
            <a:ext cx="9829800" cy="777240"/>
          </a:xfrm>
          <a:prstGeom prst="roundRect">
            <a:avLst>
              <a:gd name="adj" fmla="val 11765"/>
            </a:avLst>
          </a:prstGeom>
          <a:solidFill>
            <a:srgbClr val="F3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41605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which particular street were the most accidents reported? What % of all reported accidents does that represent?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914400" cy="77724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91640" y="5074920"/>
            <a:ext cx="9829800" cy="777240"/>
          </a:xfrm>
          <a:prstGeom prst="roundRect">
            <a:avLst>
              <a:gd name="adj" fmla="val 11765"/>
            </a:avLst>
          </a:prstGeom>
          <a:solidFill>
            <a:srgbClr val="F3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50749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most common contributing factor overall (Vehicle 1)? What about for fatal accidents specifically?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828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Open Data — Motor Vehicle Collisions (Crashes), NYPD-reported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60704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4871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 – August 30, 2020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60704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45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14553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75,896 individual collision reports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60704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0390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8039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fields: date/time, location, injuries, fatalities, contributing factors, vehicle types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306824"/>
            <a:ext cx="1060704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62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44622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reported collision (not one vehicle or one person)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965192"/>
            <a:ext cx="10607040" cy="0"/>
          </a:xfrm>
          <a:prstGeom prst="line">
            <a:avLst/>
          </a:prstGeom>
          <a:noFill/>
          <a:ln w="12700">
            <a:solidFill>
              <a:srgbClr val="E2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window happens to span the sharpest disruption to New York traffic in a generation — the COVID-19 stay-at-home period — which becomes relevant later when we account for it rather than ignore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dataset before trusting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open-data exports are rarely analysis-ready. Before any chart was built, the dataset went through a fixed sequence of checks so that every later chart rests on the same, verifiable ground.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5694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9900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33375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COLLISION_ID for repeats.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40599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 found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4231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25694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07408" y="29900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 parsing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07408" y="33375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text fields into real date/time values.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07408" y="40599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75,896 parsed cleanly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24231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7973568" y="25694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73568" y="29900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73568" y="33375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Hour, day of week, weekend flag, and rush-hour flag.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73568" y="40599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new columns added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5537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700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" y="51206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flags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546811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each row as injury / fatal based on victim counts.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61904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20,743 injury · 143 fatal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45537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4700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07408" y="51206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 gaps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07408" y="546811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34.4% of rows had no borough listed. Rather than deleting a third of the data, blanks were labeled “Unknown” and excluded only from borough-specific charts.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07408" y="61904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26,074 rows labeled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45537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4F7"/>
          </a:solidFill>
          <a:ln/>
        </p:spPr>
      </p:sp>
      <p:sp>
        <p:nvSpPr>
          <p:cNvPr id="31" name="Text 29"/>
          <p:cNvSpPr/>
          <p:nvPr/>
        </p:nvSpPr>
        <p:spPr>
          <a:xfrm>
            <a:off x="7973568" y="4700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973568" y="51206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standardization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73568" y="546811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and upper-cased street names for consistent grouping.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73568" y="61904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dataset-wide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questions hide inside one myth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dangerous” is ambiguous. We split it into two measurable, independent questions and answer each on its own terms before combining them into a verdict.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7889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hours produce the most crashes?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total collisions per hour of day. This is what most people picture when they think of “rush hour danger” — more cars, more opportunities to collide.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2514600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F3F4F7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7889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32918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hours produce the worst crashes?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384048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share of crashes involving injury or death, independent of how many crashes occur. Empty roads can invite higher speeds — and higher speed changes outcomes, not counts.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hour, defined for this study, as weekday 7–9 AM and 4–7 PM.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 was not a normal year to measure traffic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the % of total accidents by month — any seasonal patterns?”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05740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43800" y="205740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to RQ1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274320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strong seasonal pattern, but not a weather-driven one.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hold a stable 15–19% of total accidents each, ordinary winter driving.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collapses to just 5.4% of the total as COVID stay-at-home orders emptied the roads.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May–Aug rebound steadily back toward 12–13% as restrictions eased.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BUILT IN POWER 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 volume climbs through the day, peaking late afternoon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“Break down frequency by hour of day — when do accidents occur most?”</a:t>
            </a:r>
            <a:endParaRPr lang="en-US" sz="1150" dirty="0"/>
          </a:p>
        </p:txBody>
      </p:sp>
      <p:pic>
        <p:nvPicPr>
          <p:cNvPr id="7" name="Image 0" descr="img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704088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2057400"/>
            <a:ext cx="3703320" cy="4160520"/>
          </a:xfrm>
          <a:prstGeom prst="roundRect">
            <a:avLst>
              <a:gd name="adj" fmla="val 2963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to RQ2 (hour)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38160" y="288036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rises gradually from early morning through a broad afternoon plateau (hours 12–18), peaking around 4–5 PM — not in a sharp double-spike at the two commute windows. The evening rush registers strongly; the morning rush barely stands out from the surrounding hours.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Weekends behave differently from weekdays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“Break down frequency by day of week and hour of day.”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volume by day of week, broken into six-hour blocks. Darker cells mark higher counts.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7680960" cy="3383280"/>
        </p:xfrm>
        <a:graphic>
          <a:graphicData uri="http://schemas.openxmlformats.org/drawingml/2006/table">
            <a:tbl>
              <a:tblPr/>
              <a:tblGrid>
                <a:gridCol w="1554480"/>
                <a:gridCol w="1531620"/>
                <a:gridCol w="1531620"/>
                <a:gridCol w="1531620"/>
                <a:gridCol w="153162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12–6 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12–6 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1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E8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9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39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F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F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8A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2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7D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8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4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7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7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549640" y="2468880"/>
            <a:ext cx="3017520" cy="3383280"/>
          </a:xfrm>
          <a:prstGeom prst="roundRect">
            <a:avLst>
              <a:gd name="adj" fmla="val 3636"/>
            </a:avLst>
          </a:prstGeom>
          <a:solidFill>
            <a:srgbClr val="F3F4F7"/>
          </a:solidFill>
          <a:ln/>
        </p:spPr>
      </p:sp>
      <p:sp>
        <p:nvSpPr>
          <p:cNvPr id="10" name="Text 7"/>
          <p:cNvSpPr/>
          <p:nvPr/>
        </p:nvSpPr>
        <p:spPr>
          <a:xfrm>
            <a:off x="882396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to RQ2 (day)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23960" y="3154680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12–6 PM block is consistently the heaviest across every day — not a narrow commute window. Friday and Saturday nights carry visibly more overnight crashes than weeknights, pointing to a social/leisure driving pattern distinct from the commute story.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BUILT IN POWER BI · THE CORE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crashes at night, but a larger share turn fatal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RQ2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severity half of the volume-vs-severity framework from slide 7.</a:t>
            </a:r>
            <a:endParaRPr lang="en-US" sz="1150" dirty="0"/>
          </a:p>
        </p:txBody>
      </p:sp>
      <p:pic>
        <p:nvPicPr>
          <p:cNvPr id="7" name="Image 0" descr="img_du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7040880" cy="4160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2057400"/>
            <a:ext cx="3703320" cy="4160520"/>
          </a:xfrm>
          <a:prstGeom prst="roundRect">
            <a:avLst>
              <a:gd name="adj" fmla="val 2963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38160" y="2788920"/>
            <a:ext cx="3246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curves dip during the working day and climb toward night. The fatal-rate line spikes hardest between 3–5 AM — exactly the hours with the fewest total crashes from slide 9. Fewer collisions overall, but a disproportionate share are deadly.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VERDICT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Rush hour vs. the rest of the day, head to 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RQ2 (frequency) with the severity measure to test the myth directly.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03120"/>
          <a:ext cx="6492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06640" y="210312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7726680" y="2377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26680" y="28803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rush hour runs only about 7% more crashes per hour than the rest of the day — far weaker than the myth implies.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Fatality: a non-rush-hour crash is more than twice as likely to be fatal (0.21%) as a rush-hour crash (0.10%).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rate is nearly identical between the two — the real difference is concentrated in the most severe outcomes.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BUILT IN POWER BI · SUPPLEMENTARY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boroughs carry most of the burden</a:t>
            </a:r>
            <a:endParaRPr lang="en-US" sz="2800" dirty="0"/>
          </a:p>
        </p:txBody>
      </p:sp>
      <p:pic>
        <p:nvPicPr>
          <p:cNvPr id="4" name="Image 0" descr="img_don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55778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201168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3F4F7"/>
          </a:solidFill>
          <a:ln/>
        </p:spPr>
      </p:sp>
      <p:sp>
        <p:nvSpPr>
          <p:cNvPr id="6" name="Text 3"/>
          <p:cNvSpPr/>
          <p:nvPr/>
        </p:nvSpPr>
        <p:spPr>
          <a:xfrm>
            <a:off x="6812280" y="2286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tells us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12280" y="278892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and Queens together account for nearly 63% of all reported crashes with a known borough. Both are large, high-throughput boroughs with dense arterial roads and expressway access — which lines up with the street-level pattern on the next slide.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12280" y="438912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of the four assigned research questions, but included as location context that supports the street-level answer to RQ3.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 concentrates on the highways, not side streets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street had the most accidents — what % of the total does that represent?”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057400"/>
          <a:ext cx="10881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978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RQ3: the Belt Parkway is the single most dangerous street, with 1,254 crashes — 1.65% of all 75,896 reported collisions, and 66% more than the second-highest street. Every entry on this list is a high-speed expressway or parkway, confirming that speed and traffic density, not neighborhood streets, drive citywide street-level risk.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drivers actually did differently during rush hour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the most common contributing factor overall?”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05740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521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RQ4a: Driver Inattention / Distraction is the most common known contributing factor overall (25.6% of all crashes) and it appears almost equally in rush and non-rush hours. What does shift with rush hour is tailgating and right-of-way violations — both about 1.3 points more common, consistent with dense, stop-and-go traffic.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Fatal crashes point to a different cause entirely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361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56232" y="15361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“...and what about for fatal accidents specifically?”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057400"/>
          <a:ext cx="68580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2057400"/>
            <a:ext cx="3886200" cy="3794760"/>
          </a:xfrm>
          <a:prstGeom prst="roundRect">
            <a:avLst>
              <a:gd name="adj" fmla="val 2892"/>
            </a:avLst>
          </a:prstGeom>
          <a:solidFill>
            <a:srgbClr val="14213D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to RQ4b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28346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143 fatal crashes, Unsafe Speed ties as the single largest known cause (23.8%), well ahead of its 3.6% share of crashes overall. Distraction — the top overall cause — drops to fourth place here. This directly supports the night-time findings: when roads are empty, speed becomes the defining factor in whether a crash turns fatal.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every finding back to the four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68680" cy="932688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183794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7269480" cy="932688"/>
          </a:xfrm>
          <a:prstGeom prst="roundRect">
            <a:avLst>
              <a:gd name="adj" fmla="val 9804"/>
            </a:avLst>
          </a:prstGeom>
          <a:solidFill>
            <a:srgbClr val="F3F4F7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83080"/>
            <a:ext cx="6858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crashes fell 71% in April 2020 during lockdown, then rebounded steadily through August.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868680" cy="932688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52928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29077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crashes peak?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852928"/>
            <a:ext cx="7269480" cy="932688"/>
          </a:xfrm>
          <a:prstGeom prst="roundRect">
            <a:avLst>
              <a:gd name="adj" fmla="val 9804"/>
            </a:avLst>
          </a:prstGeom>
          <a:solidFill>
            <a:srgbClr val="F3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852928"/>
            <a:ext cx="6858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climbs through the day, peaking 4–5 PM; the 12–6 PM block is heaviest on every day of the week.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868680" cy="932688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22776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3977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 street?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3922776"/>
            <a:ext cx="7269480" cy="932688"/>
          </a:xfrm>
          <a:prstGeom prst="roundRect">
            <a:avLst>
              <a:gd name="adj" fmla="val 9804"/>
            </a:avLst>
          </a:prstGeom>
          <a:solidFill>
            <a:srgbClr val="F3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3922776"/>
            <a:ext cx="6858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Parkway — 1,254 crashes, 1.65% of all reported collisions citywide.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92624"/>
            <a:ext cx="868680" cy="932688"/>
          </a:xfrm>
          <a:prstGeom prst="roundRect">
            <a:avLst>
              <a:gd name="adj" fmla="val 10526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92624"/>
            <a:ext cx="868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45920" y="50474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factor?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0" y="4992624"/>
            <a:ext cx="7269480" cy="932688"/>
          </a:xfrm>
          <a:prstGeom prst="roundRect">
            <a:avLst>
              <a:gd name="adj" fmla="val 9804"/>
            </a:avLst>
          </a:prstGeom>
          <a:solidFill>
            <a:srgbClr val="F3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4992624"/>
            <a:ext cx="6858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inattention overall, but Unsafe Speed dominates specifically among fatal crashes.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539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rush hour myth: true on raw numbers, backwards on outcomes — non-rush-hour crashes are over twice as likely to be fatal.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does not claim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20116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exposure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423160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crashes, not crash risk per mile driven. Without traffic-volume counts, we cannot say a given hour is riskier per driver — only that it produces more or fewer, and more or less severe, crashes.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/>
        </p:spPr>
      </p:sp>
      <p:sp>
        <p:nvSpPr>
          <p:cNvPr id="8" name="Text 6"/>
          <p:cNvSpPr/>
          <p:nvPr/>
        </p:nvSpPr>
        <p:spPr>
          <a:xfrm>
            <a:off x="6382512" y="20116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was not a typical year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82512" y="2423160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stay-at-home orders emptied roads for months. Hour-of-day shape is likely still informative, but absolute crash counts should not be read as a normal year's baseline.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1148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 is self-reported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4526280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 of records list “Unspecified” as the contributing factor, and the remaining categories rely on officer judgment at the scene, not independently verified causes.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3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41148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 gaps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4526280"/>
            <a:ext cx="4700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over a third of records had no borough recorded. These were excluded only from borough-specific charts, not from the time-based findings, but the gap itself is worth flagging to a reader.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for your questions.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25400">
            <a:solidFill>
              <a:srgbClr val="FCA3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 ·  Melwin  ·  Kavya  ·  Shravan  ·  Mariyamol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Traffic Accident Analysis</dc:title>
  <dc:subject>PptxGenJS Presentation</dc:subject>
  <dc:creator>Aditya, Melwin, Kavya, Shravan, Mariyamol</dc:creator>
  <cp:lastModifiedBy>Aditya, Melwin, Kavya, Shravan, Mariyamol</cp:lastModifiedBy>
  <cp:revision>1</cp:revision>
  <dcterms:created xsi:type="dcterms:W3CDTF">2026-07-03T18:31:57Z</dcterms:created>
  <dcterms:modified xsi:type="dcterms:W3CDTF">2026-07-03T18:31:57Z</dcterms:modified>
</cp:coreProperties>
</file>